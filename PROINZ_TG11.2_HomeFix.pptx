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7" r:id="rId1"/>
    <p:sldMasterId id="2147483714" r:id="rId2"/>
  </p:sldMasterIdLst>
  <p:notesMasterIdLst>
    <p:notesMasterId r:id="rId18"/>
  </p:notesMasterIdLst>
  <p:sldIdLst>
    <p:sldId id="265" r:id="rId3"/>
    <p:sldId id="266" r:id="rId4"/>
    <p:sldId id="267" r:id="rId5"/>
    <p:sldId id="268" r:id="rId6"/>
    <p:sldId id="276" r:id="rId7"/>
    <p:sldId id="277" r:id="rId8"/>
    <p:sldId id="269" r:id="rId9"/>
    <p:sldId id="261" r:id="rId10"/>
    <p:sldId id="278" r:id="rId11"/>
    <p:sldId id="275" r:id="rId12"/>
    <p:sldId id="260" r:id="rId13"/>
    <p:sldId id="262" r:id="rId14"/>
    <p:sldId id="279" r:id="rId15"/>
    <p:sldId id="274" r:id="rId16"/>
    <p:sldId id="263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05" autoAdjust="0"/>
    <p:restoredTop sz="97366" autoAdjust="0"/>
  </p:normalViewPr>
  <p:slideViewPr>
    <p:cSldViewPr snapToGrid="0">
      <p:cViewPr>
        <p:scale>
          <a:sx n="75" d="100"/>
          <a:sy n="75" d="100"/>
        </p:scale>
        <p:origin x="1618" y="125"/>
      </p:cViewPr>
      <p:guideLst/>
    </p:cSldViewPr>
  </p:slideViewPr>
  <p:outlineViewPr>
    <p:cViewPr>
      <p:scale>
        <a:sx n="33" d="100"/>
        <a:sy n="33" d="100"/>
      </p:scale>
      <p:origin x="0" y="-454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7596D4-CB16-4BAD-83F6-7E8077D61F81}" type="datetimeFigureOut">
              <a:rPr lang="hr-HR" smtClean="0"/>
              <a:t>22.1.2026.</a:t>
            </a:fld>
            <a:endParaRPr lang="hr-H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45738E-9CB8-443D-AC33-32367D54213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940785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1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906897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2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6403413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 list no need to elaborate in this stage!</a:t>
            </a:r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3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5702015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Navedite samo svoju viziju projektne ideje...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4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51088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6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4625791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ight Triangle 32">
            <a:extLst>
              <a:ext uri="{FF2B5EF4-FFF2-40B4-BE49-F238E27FC236}">
                <a16:creationId xmlns:a16="http://schemas.microsoft.com/office/drawing/2014/main" id="{2A737799-F072-47E1-A678-5CE12F097D06}"/>
              </a:ext>
            </a:extLst>
          </p:cNvPr>
          <p:cNvSpPr/>
          <p:nvPr/>
        </p:nvSpPr>
        <p:spPr>
          <a:xfrm flipH="1">
            <a:off x="4496837" y="4722829"/>
            <a:ext cx="4644854" cy="2135171"/>
          </a:xfrm>
          <a:prstGeom prst="rtTriangle">
            <a:avLst/>
          </a:prstGeom>
          <a:blipFill dpi="0" rotWithShape="0">
            <a:blip r:embed="rId2"/>
            <a:srcRect/>
            <a:tile tx="0" ty="-393700" sx="100000" sy="100000" flip="none" algn="tl"/>
          </a:blip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6308" y="3685740"/>
            <a:ext cx="7772400" cy="1541283"/>
          </a:xfrm>
        </p:spPr>
        <p:txBody>
          <a:bodyPr lIns="252000" tIns="46800" rIns="252000" anchor="ctr">
            <a:normAutofit/>
          </a:bodyPr>
          <a:lstStyle>
            <a:lvl1pPr algn="ctr">
              <a:defRPr lang="en-US" sz="2800" b="0" kern="12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0A13A86-3F68-4CBB-B661-B96A001B15BE}"/>
              </a:ext>
            </a:extLst>
          </p:cNvPr>
          <p:cNvGrpSpPr/>
          <p:nvPr/>
        </p:nvGrpSpPr>
        <p:grpSpPr>
          <a:xfrm>
            <a:off x="0" y="0"/>
            <a:ext cx="1370309" cy="6858000"/>
            <a:chOff x="0" y="0"/>
            <a:chExt cx="1370309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22AA1C2-ED49-4B0D-9C5A-6D47DFC70771}"/>
                </a:ext>
              </a:extLst>
            </p:cNvPr>
            <p:cNvSpPr/>
            <p:nvPr userDrawn="1"/>
          </p:nvSpPr>
          <p:spPr>
            <a:xfrm>
              <a:off x="0" y="0"/>
              <a:ext cx="342900" cy="6858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4FC8746-DFC2-4DDF-B034-CED2ACE15704}"/>
                </a:ext>
              </a:extLst>
            </p:cNvPr>
            <p:cNvSpPr/>
            <p:nvPr userDrawn="1"/>
          </p:nvSpPr>
          <p:spPr>
            <a:xfrm rot="16200000">
              <a:off x="514859" y="-512550"/>
              <a:ext cx="342900" cy="1368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94884E1-E6D8-48CB-B7A9-438FB51C78F5}"/>
                </a:ext>
              </a:extLst>
            </p:cNvPr>
            <p:cNvSpPr/>
            <p:nvPr userDrawn="1"/>
          </p:nvSpPr>
          <p:spPr>
            <a:xfrm rot="16200000">
              <a:off x="514859" y="6002550"/>
              <a:ext cx="342900" cy="1368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4" name="Picture 13" descr="A close up of a logo&#10;&#10;Description automatically generated">
            <a:extLst>
              <a:ext uri="{FF2B5EF4-FFF2-40B4-BE49-F238E27FC236}">
                <a16:creationId xmlns:a16="http://schemas.microsoft.com/office/drawing/2014/main" id="{32F5CBCA-0AB8-4B6A-8A03-C549C7F3AE3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79000"/>
          </a:blip>
          <a:srcRect l="13474" t="23715" r="15700" b="21450"/>
          <a:stretch/>
        </p:blipFill>
        <p:spPr>
          <a:xfrm>
            <a:off x="7499927" y="308066"/>
            <a:ext cx="1416947" cy="684000"/>
          </a:xfrm>
          <a:prstGeom prst="rect">
            <a:avLst/>
          </a:prstGeom>
        </p:spPr>
      </p:pic>
      <p:pic>
        <p:nvPicPr>
          <p:cNvPr id="16" name="Picture 15" descr="A screenshot of a video game&#10;&#10;Description automatically generated">
            <a:extLst>
              <a:ext uri="{FF2B5EF4-FFF2-40B4-BE49-F238E27FC236}">
                <a16:creationId xmlns:a16="http://schemas.microsoft.com/office/drawing/2014/main" id="{304A50E9-593B-484E-BBFD-7D99ADECD2F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772"/>
          <a:stretch/>
        </p:blipFill>
        <p:spPr>
          <a:xfrm>
            <a:off x="629310" y="543433"/>
            <a:ext cx="2495116" cy="246346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E779F65-BFE6-4D96-B824-8575890A4185}"/>
              </a:ext>
            </a:extLst>
          </p:cNvPr>
          <p:cNvSpPr txBox="1"/>
          <p:nvPr/>
        </p:nvSpPr>
        <p:spPr>
          <a:xfrm>
            <a:off x="6299200" y="1668720"/>
            <a:ext cx="3155393" cy="64344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700" b="1" kern="1200" cap="small" noProof="0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Programsko inženjerstvo</a:t>
            </a:r>
          </a:p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700" b="1" kern="1200" cap="small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ID 183400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54D68C4-3DFA-4D90-89DF-550D8FB0DB2C}"/>
              </a:ext>
            </a:extLst>
          </p:cNvPr>
          <p:cNvGrpSpPr/>
          <p:nvPr/>
        </p:nvGrpSpPr>
        <p:grpSpPr>
          <a:xfrm>
            <a:off x="8541834" y="2712985"/>
            <a:ext cx="602166" cy="689744"/>
            <a:chOff x="8541834" y="2712985"/>
            <a:chExt cx="602166" cy="689744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891C753-BAAB-4424-9E32-3F1432529749}"/>
                </a:ext>
              </a:extLst>
            </p:cNvPr>
            <p:cNvSpPr/>
            <p:nvPr userDrawn="1"/>
          </p:nvSpPr>
          <p:spPr>
            <a:xfrm>
              <a:off x="9000000" y="2718729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86BC744-DC4B-4A55-B6FA-A711EC8ACF52}"/>
                </a:ext>
              </a:extLst>
            </p:cNvPr>
            <p:cNvSpPr/>
            <p:nvPr userDrawn="1"/>
          </p:nvSpPr>
          <p:spPr>
            <a:xfrm>
              <a:off x="8772874" y="2718729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0AA3319-80CC-4953-81CC-A4C7D5063739}"/>
                </a:ext>
              </a:extLst>
            </p:cNvPr>
            <p:cNvSpPr/>
            <p:nvPr userDrawn="1"/>
          </p:nvSpPr>
          <p:spPr>
            <a:xfrm>
              <a:off x="8541834" y="2712985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Graphic 3">
            <a:extLst>
              <a:ext uri="{FF2B5EF4-FFF2-40B4-BE49-F238E27FC236}">
                <a16:creationId xmlns:a16="http://schemas.microsoft.com/office/drawing/2014/main" id="{9B169C9B-ABD9-49DB-8ECD-EBB51008CF4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40606" t="17629" r="15252" b="19248"/>
          <a:stretch/>
        </p:blipFill>
        <p:spPr>
          <a:xfrm>
            <a:off x="6472518" y="270901"/>
            <a:ext cx="836453" cy="82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B217BDC-58CC-FADA-1B39-623F12755E0B}"/>
              </a:ext>
            </a:extLst>
          </p:cNvPr>
          <p:cNvSpPr txBox="1"/>
          <p:nvPr userDrawn="1"/>
        </p:nvSpPr>
        <p:spPr>
          <a:xfrm>
            <a:off x="2757249" y="3212658"/>
            <a:ext cx="33702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Prezentacija</a:t>
            </a:r>
            <a:r>
              <a:rPr lang="hr-HR" sz="2000" noProof="0" dirty="0">
                <a:latin typeface="Franklin Gothic Demi" panose="020B0703020102020204" pitchFamily="34" charset="0"/>
              </a:rPr>
              <a:t> </a:t>
            </a:r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projekta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7A7A9A7D-F6F6-0F08-90E6-4F20750E97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292" y="5227023"/>
            <a:ext cx="7772400" cy="590321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 cap="none">
                <a:solidFill>
                  <a:schemeClr val="tx1"/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77211245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blipFill dpi="0" rotWithShape="1">
          <a:blip r:embed="rId2">
            <a:alphaModFix amt="10000"/>
            <a:lum/>
          </a:blip>
          <a:srcRect/>
          <a:stretch>
            <a:fillRect l="85000" t="93000" r="1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9D65BC3-0390-487E-9343-57013C37910B}"/>
              </a:ext>
            </a:extLst>
          </p:cNvPr>
          <p:cNvGrpSpPr/>
          <p:nvPr/>
        </p:nvGrpSpPr>
        <p:grpSpPr>
          <a:xfrm>
            <a:off x="0" y="0"/>
            <a:ext cx="1370309" cy="6858000"/>
            <a:chOff x="0" y="0"/>
            <a:chExt cx="1370309" cy="6858000"/>
          </a:xfrm>
          <a:solidFill>
            <a:srgbClr val="FFB400"/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F4361EC-AED8-4B86-B0D1-15361ACD5BB7}"/>
                </a:ext>
              </a:extLst>
            </p:cNvPr>
            <p:cNvSpPr/>
            <p:nvPr userDrawn="1"/>
          </p:nvSpPr>
          <p:spPr>
            <a:xfrm>
              <a:off x="0" y="0"/>
              <a:ext cx="342900" cy="6858000"/>
            </a:xfrm>
            <a:prstGeom prst="rect">
              <a:avLst/>
            </a:prstGeom>
            <a:grpFill/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D7164C5-7F89-48EA-9906-0AF23BCC4882}"/>
                </a:ext>
              </a:extLst>
            </p:cNvPr>
            <p:cNvSpPr/>
            <p:nvPr userDrawn="1"/>
          </p:nvSpPr>
          <p:spPr>
            <a:xfrm rot="16200000">
              <a:off x="514859" y="6002550"/>
              <a:ext cx="342900" cy="1368000"/>
            </a:xfrm>
            <a:prstGeom prst="rect">
              <a:avLst/>
            </a:prstGeom>
            <a:grpFill/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1" name="Picture 10" descr="A screenshot of a video game&#10;&#10;Description automatically generated">
            <a:extLst>
              <a:ext uri="{FF2B5EF4-FFF2-40B4-BE49-F238E27FC236}">
                <a16:creationId xmlns:a16="http://schemas.microsoft.com/office/drawing/2014/main" id="{400D0D9E-702E-4495-B908-117D903BB1A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772"/>
          <a:stretch/>
        </p:blipFill>
        <p:spPr>
          <a:xfrm>
            <a:off x="7680632" y="120349"/>
            <a:ext cx="1276193" cy="1260000"/>
          </a:xfrm>
          <a:prstGeom prst="rect">
            <a:avLst/>
          </a:prstGeom>
        </p:spPr>
      </p:pic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BE68E431-7FC2-47FC-A826-4B794B289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9B4F37E-A6B4-4A59-A76A-E67F5B42B7AF}"/>
              </a:ext>
            </a:extLst>
          </p:cNvPr>
          <p:cNvCxnSpPr>
            <a:cxnSpLocks/>
          </p:cNvCxnSpPr>
          <p:nvPr/>
        </p:nvCxnSpPr>
        <p:spPr>
          <a:xfrm flipH="1">
            <a:off x="1071418" y="4581245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4758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8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95554"/>
            <a:ext cx="7886700" cy="4931327"/>
          </a:xfrm>
        </p:spPr>
        <p:txBody>
          <a:bodyPr/>
          <a:lstStyle>
            <a:lvl2pPr marL="685800" indent="-228600">
              <a:buFont typeface="Wingdings" panose="05000000000000000000" pitchFamily="2" charset="2"/>
              <a:buChar char="§"/>
              <a:defRPr sz="2200"/>
            </a:lvl2pPr>
            <a:lvl3pPr marL="1143000" indent="-228600">
              <a:buFont typeface="Courier New" panose="02070309020205020404" pitchFamily="49" charset="0"/>
              <a:buChar char="o"/>
              <a:defRPr sz="1800"/>
            </a:lvl3pPr>
            <a:lvl4pPr marL="1600200" indent="-228600">
              <a:buFont typeface="Franklin Gothic Book" panose="020B0503020102020204" pitchFamily="34" charset="0"/>
              <a:buChar char="―"/>
              <a:defRPr sz="1600"/>
            </a:lvl4pPr>
            <a:lvl5pPr marL="2057400" indent="-22860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5EDF29-E7FA-42BB-A5D2-94CEEA4E580C}"/>
              </a:ext>
            </a:extLst>
          </p:cNvPr>
          <p:cNvCxnSpPr/>
          <p:nvPr/>
        </p:nvCxnSpPr>
        <p:spPr>
          <a:xfrm>
            <a:off x="1071418" y="1209961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0347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8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5EDF29-E7FA-42BB-A5D2-94CEEA4E580C}"/>
              </a:ext>
            </a:extLst>
          </p:cNvPr>
          <p:cNvCxnSpPr/>
          <p:nvPr/>
        </p:nvCxnSpPr>
        <p:spPr>
          <a:xfrm>
            <a:off x="1071418" y="1209961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1050AD4-29D0-47EA-9708-82FD8FAF1B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413164"/>
            <a:ext cx="3886200" cy="4763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0C09F13D-5F40-4714-BA42-EFC264DE96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413164"/>
            <a:ext cx="3886200" cy="4763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8255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8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5EDF29-E7FA-42BB-A5D2-94CEEA4E580C}"/>
              </a:ext>
            </a:extLst>
          </p:cNvPr>
          <p:cNvCxnSpPr/>
          <p:nvPr/>
        </p:nvCxnSpPr>
        <p:spPr>
          <a:xfrm>
            <a:off x="1071418" y="1209961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2377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084370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0" y="1"/>
            <a:ext cx="9144000" cy="1124744"/>
          </a:xfrm>
          <a:solidFill>
            <a:schemeClr val="bg1"/>
          </a:solidFill>
        </p:spPr>
        <p:txBody>
          <a:bodyPr/>
          <a:lstStyle>
            <a:lvl1pPr>
              <a:defRPr sz="4000"/>
            </a:lvl1pPr>
          </a:lstStyle>
          <a:p>
            <a:r>
              <a:rPr lang="en-US" noProof="0"/>
              <a:t>Click to edit Master title style</a:t>
            </a:r>
            <a:endParaRPr lang="hr-HR" noProof="0" dirty="0"/>
          </a:p>
        </p:txBody>
      </p:sp>
      <p:sp>
        <p:nvSpPr>
          <p:cNvPr id="324611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0" y="2997200"/>
            <a:ext cx="9144000" cy="122237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 b="1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r>
              <a:rPr lang="en-US" noProof="0"/>
              <a:t>Click to edit Master subtitle style</a:t>
            </a:r>
            <a:endParaRPr lang="hr-HR" noProof="0" dirty="0"/>
          </a:p>
        </p:txBody>
      </p:sp>
      <p:sp>
        <p:nvSpPr>
          <p:cNvPr id="170" name="Rectangle 325"/>
          <p:cNvSpPr>
            <a:spLocks noChangeArrowheads="1"/>
          </p:cNvSpPr>
          <p:nvPr/>
        </p:nvSpPr>
        <p:spPr bwMode="auto">
          <a:xfrm>
            <a:off x="0" y="3573463"/>
            <a:ext cx="91440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endParaRPr lang="hr-HR" sz="2800" noProof="0" dirty="0">
              <a:solidFill>
                <a:srgbClr val="FF99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4358" y="5597395"/>
            <a:ext cx="619125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892974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19138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hr-HR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0" y="836613"/>
            <a:ext cx="4495800" cy="554513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hr-HR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836613"/>
            <a:ext cx="4495800" cy="554513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hr-HR" noProof="0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6E8F5E-7C26-4DBA-9CDF-6E3092DFB447}" type="datetime1">
              <a:rPr lang="hr-HR" smtClean="0"/>
              <a:t>22.1.2026.</a:t>
            </a:fld>
            <a:endParaRPr lang="hr-HR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hr-HR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3282859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769541"/>
            <a:ext cx="7080026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3598339"/>
            <a:ext cx="7080026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22.1.2026.</a:t>
            </a:fld>
            <a:endParaRPr lang="hr-H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FAA3A1-FCEA-8672-021A-7CD45A088C29}"/>
              </a:ext>
            </a:extLst>
          </p:cNvPr>
          <p:cNvSpPr txBox="1"/>
          <p:nvPr userDrawn="1"/>
        </p:nvSpPr>
        <p:spPr>
          <a:xfrm>
            <a:off x="2757249" y="3266875"/>
            <a:ext cx="33702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Prezentacija</a:t>
            </a:r>
            <a:r>
              <a:rPr lang="hr-HR" sz="2000" noProof="0" dirty="0">
                <a:latin typeface="Franklin Gothic Demi" panose="020B0703020102020204" pitchFamily="34" charset="0"/>
              </a:rPr>
              <a:t> </a:t>
            </a:r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projekta</a:t>
            </a:r>
          </a:p>
        </p:txBody>
      </p:sp>
    </p:spTree>
    <p:extLst>
      <p:ext uri="{BB962C8B-B14F-4D97-AF65-F5344CB8AC3E}">
        <p14:creationId xmlns:p14="http://schemas.microsoft.com/office/powerpoint/2010/main" val="4112086947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044465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761068"/>
            <a:ext cx="7192913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9879"/>
            <a:ext cx="7192913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A2C86E-F1C7-46E0-95C6-696D16C6C694}" type="slidenum">
              <a:rPr lang="hr-HR" noProof="0" smtClean="0"/>
              <a:pPr>
                <a:defRPr/>
              </a:pPr>
              <a:t>‹#›</a:t>
            </a:fld>
            <a:endParaRPr lang="hr-HR" noProof="0" dirty="0"/>
          </a:p>
        </p:txBody>
      </p:sp>
    </p:spTree>
    <p:extLst>
      <p:ext uri="{BB962C8B-B14F-4D97-AF65-F5344CB8AC3E}">
        <p14:creationId xmlns:p14="http://schemas.microsoft.com/office/powerpoint/2010/main" val="36225808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732449"/>
            <a:ext cx="3795373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732450"/>
            <a:ext cx="3798499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9681422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5" y="1770323"/>
            <a:ext cx="3787423" cy="4112953"/>
          </a:xfrm>
          <a:prstGeom prst="rect">
            <a:avLst/>
          </a:prstGeom>
        </p:spPr>
      </p:pic>
      <p:pic>
        <p:nvPicPr>
          <p:cNvPr id="14" name="Picture 13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245" y="1770323"/>
            <a:ext cx="3787423" cy="41129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835254"/>
            <a:ext cx="3657258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2380138"/>
            <a:ext cx="365725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835255"/>
            <a:ext cx="3671498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2380138"/>
            <a:ext cx="367149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22.1.2026.</a:t>
            </a:fld>
            <a:endParaRPr lang="hr-H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162958693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8588495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9943830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0"/>
            <a:ext cx="2780167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609600"/>
            <a:ext cx="4808943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1518"/>
            <a:ext cx="2780167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22.1.2026.</a:t>
            </a:fld>
            <a:endParaRPr lang="hr-H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041998392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late-V2-S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987" y="609923"/>
            <a:ext cx="3428146" cy="52054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923"/>
            <a:ext cx="3924676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76728" y="743989"/>
            <a:ext cx="3165375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9261"/>
            <a:ext cx="3924676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22.1.2026.</a:t>
            </a:fld>
            <a:endParaRPr lang="hr-H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816731824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late-V2-S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95" y="540085"/>
            <a:ext cx="7656010" cy="38343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4565255"/>
            <a:ext cx="7766495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6217" y="695010"/>
            <a:ext cx="7285600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6532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22.1.2026.</a:t>
            </a:fld>
            <a:endParaRPr lang="hr-H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930947889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8437"/>
            <a:ext cx="776532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295180"/>
            <a:ext cx="7765322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22.1.2026.</a:t>
            </a:fld>
            <a:endParaRPr lang="hr-H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601630873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3"/>
            <a:ext cx="6564224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304353"/>
            <a:ext cx="7765322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22.1.2026.</a:t>
            </a:fld>
            <a:endParaRPr lang="hr-H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sp>
        <p:nvSpPr>
          <p:cNvPr id="11" name="TextBox 10"/>
          <p:cNvSpPr txBox="1"/>
          <p:nvPr/>
        </p:nvSpPr>
        <p:spPr>
          <a:xfrm>
            <a:off x="627459" y="87391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8359" y="2933245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69226092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2126943"/>
            <a:ext cx="7765322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4650556"/>
            <a:ext cx="776414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22.1.2026.</a:t>
            </a:fld>
            <a:endParaRPr lang="hr-H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102612987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22.1.2026.</a:t>
            </a:fld>
            <a:endParaRPr lang="hr-H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580041002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39" y="1826045"/>
            <a:ext cx="2529046" cy="1833558"/>
          </a:xfrm>
          <a:prstGeom prst="rect">
            <a:avLst/>
          </a:prstGeom>
        </p:spPr>
      </p:pic>
      <p:pic>
        <p:nvPicPr>
          <p:cNvPr id="28" name="Picture 27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813" y="1826045"/>
            <a:ext cx="2529046" cy="1833558"/>
          </a:xfrm>
          <a:prstGeom prst="rect">
            <a:avLst/>
          </a:prstGeom>
        </p:spPr>
      </p:pic>
      <p:pic>
        <p:nvPicPr>
          <p:cNvPr id="29" name="Picture 28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715" y="1826045"/>
            <a:ext cx="2529046" cy="183355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938918"/>
            <a:ext cx="2319276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4480369"/>
            <a:ext cx="2475738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939094"/>
            <a:ext cx="2319276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5" y="4480368"/>
            <a:ext cx="2476753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934432"/>
            <a:ext cx="2319276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4480366"/>
            <a:ext cx="2475738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22.1.2026.</a:t>
            </a:fld>
            <a:endParaRPr lang="hr-H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26388624"/>
      </p:ext>
    </p:extLst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22.1.2026.</a:t>
            </a:fld>
            <a:endParaRPr lang="hr-H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999160861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609600"/>
            <a:ext cx="1713365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609600"/>
            <a:ext cx="5937654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22.1.2026.</a:t>
            </a:fld>
            <a:endParaRPr lang="hr-H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647339892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24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6E8F5E-7C26-4DBA-9CDF-6E3092DFB447}" type="datetime1">
              <a:rPr lang="hr-HR" smtClean="0"/>
              <a:t>22.1.2026.</a:t>
            </a:fld>
            <a:endParaRPr lang="hr-H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580548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732450"/>
            <a:ext cx="776532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E46E8F5E-7C26-4DBA-9CDF-6E3092DFB447}" type="datetime1">
              <a:rPr lang="hr-HR" smtClean="0"/>
              <a:t>22.1.2026.</a:t>
            </a:fld>
            <a:endParaRPr lang="hr-H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1462496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mailto:jan.klasic@fer.unizg.hr" TargetMode="External"/><Relationship Id="rId3" Type="http://schemas.openxmlformats.org/officeDocument/2006/relationships/hyperlink" Target="mailto:svebor.vasic@fer.unizg.hr" TargetMode="External"/><Relationship Id="rId7" Type="http://schemas.openxmlformats.org/officeDocument/2006/relationships/hyperlink" Target="mailto:lovro.milisic@fer.unizg.hr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6" Type="http://schemas.openxmlformats.org/officeDocument/2006/relationships/hyperlink" Target="mailto:marko.maslac@fer.unizg.hr" TargetMode="External"/><Relationship Id="rId5" Type="http://schemas.openxmlformats.org/officeDocument/2006/relationships/hyperlink" Target="mailto:sara.klaric@fer.unizg.hr" TargetMode="External"/><Relationship Id="rId4" Type="http://schemas.openxmlformats.org/officeDocument/2006/relationships/hyperlink" Target="mailto:gabriela.perkovic@fer.unizg.hr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xflo.com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4" Type="http://schemas.openxmlformats.org/officeDocument/2006/relationships/hyperlink" Target="https://www.planradar.com/hr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mp"/><Relationship Id="rId2" Type="http://schemas.openxmlformats.org/officeDocument/2006/relationships/image" Target="../media/image16.tmp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tmp"/><Relationship Id="rId3" Type="http://schemas.openxmlformats.org/officeDocument/2006/relationships/image" Target="../media/image18.tmp"/><Relationship Id="rId7" Type="http://schemas.openxmlformats.org/officeDocument/2006/relationships/image" Target="../media/image22.tmp"/><Relationship Id="rId12" Type="http://schemas.openxmlformats.org/officeDocument/2006/relationships/image" Target="../media/image27.tmp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1.tmp"/><Relationship Id="rId11" Type="http://schemas.openxmlformats.org/officeDocument/2006/relationships/image" Target="../media/image26.tmp"/><Relationship Id="rId5" Type="http://schemas.openxmlformats.org/officeDocument/2006/relationships/image" Target="../media/image20.tmp"/><Relationship Id="rId10" Type="http://schemas.openxmlformats.org/officeDocument/2006/relationships/image" Target="../media/image25.tmp"/><Relationship Id="rId4" Type="http://schemas.openxmlformats.org/officeDocument/2006/relationships/image" Target="../media/image19.tmp"/><Relationship Id="rId9" Type="http://schemas.openxmlformats.org/officeDocument/2006/relationships/image" Target="../media/image24.tmp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tmp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tmp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tmp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hyperlink" Target="https://homefix-seven.vercel.app/" TargetMode="Externa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0522" y="2514599"/>
            <a:ext cx="7080026" cy="182880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hr-HR" sz="4000" dirty="0"/>
              <a:t>H</a:t>
            </a:r>
            <a:r>
              <a:rPr lang="en-GB" sz="4000" dirty="0" err="1"/>
              <a:t>ome</a:t>
            </a:r>
            <a:r>
              <a:rPr lang="hr-HR" sz="4000" dirty="0"/>
              <a:t>F</a:t>
            </a:r>
            <a:r>
              <a:rPr lang="en-GB" sz="4000" dirty="0"/>
              <a:t>ix</a:t>
            </a:r>
            <a:endParaRPr lang="hr-HR" sz="4000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09DD34-BFD2-8305-42BF-AA42E093F9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4335" y="4731571"/>
            <a:ext cx="7772400" cy="590321"/>
          </a:xfrm>
        </p:spPr>
        <p:txBody>
          <a:bodyPr>
            <a:normAutofit fontScale="85000" lnSpcReduction="20000"/>
          </a:bodyPr>
          <a:lstStyle/>
          <a:p>
            <a:r>
              <a:rPr lang="hr-HR" sz="1400" noProof="0" dirty="0"/>
              <a:t>Tim:  TG </a:t>
            </a:r>
            <a:r>
              <a:rPr lang="hr-HR" sz="1400" dirty="0"/>
              <a:t>11</a:t>
            </a:r>
            <a:r>
              <a:rPr lang="hr-HR" sz="1400" noProof="0" dirty="0"/>
              <a:t>.</a:t>
            </a:r>
            <a:r>
              <a:rPr lang="hr-HR" sz="1400" dirty="0"/>
              <a:t>2</a:t>
            </a:r>
            <a:r>
              <a:rPr lang="hr-HR" sz="1400" noProof="0" dirty="0"/>
              <a:t> </a:t>
            </a:r>
            <a:r>
              <a:rPr lang="hr-HR" sz="1400" dirty="0"/>
              <a:t>Bumbari</a:t>
            </a:r>
            <a:endParaRPr lang="hr-HR" sz="1400" noProof="0" dirty="0"/>
          </a:p>
          <a:p>
            <a:r>
              <a:rPr lang="hr-HR" noProof="0" dirty="0"/>
              <a:t>Ak. god. 2025./2026.</a:t>
            </a:r>
          </a:p>
        </p:txBody>
      </p:sp>
      <p:sp>
        <p:nvSpPr>
          <p:cNvPr id="6" name="AutoShape 6" descr="Cartoon Bumble Be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D84898EE-1AB0-1081-7EBB-3D6296E0017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57484" y="344720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r-HR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980E3AA-EB5B-A5FE-4598-F31066D79E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9987" y="4084482"/>
            <a:ext cx="2773518" cy="2773518"/>
          </a:xfrm>
          <a:prstGeom prst="rect">
            <a:avLst/>
          </a:prstGeom>
        </p:spPr>
      </p:pic>
      <p:pic>
        <p:nvPicPr>
          <p:cNvPr id="1032" name="Picture 8" descr="Icon Size Building PNG Transparent Background, Free Download #35637 -  FreeIconsPNG">
            <a:extLst>
              <a:ext uri="{FF2B5EF4-FFF2-40B4-BE49-F238E27FC236}">
                <a16:creationId xmlns:a16="http://schemas.microsoft.com/office/drawing/2014/main" id="{7C012A60-964F-020E-A800-F3F1D7E8EA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95" y="3955465"/>
            <a:ext cx="2902535" cy="2902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D955A4F-DDE5-B1BE-FD92-C57BE48BCD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61633" y="-111669"/>
            <a:ext cx="5089074" cy="153514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CF418D9-2043-1996-6F30-A6472EB06B46}"/>
              </a:ext>
            </a:extLst>
          </p:cNvPr>
          <p:cNvSpPr txBox="1"/>
          <p:nvPr/>
        </p:nvSpPr>
        <p:spPr>
          <a:xfrm>
            <a:off x="4422847" y="332739"/>
            <a:ext cx="46506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noProof="0" dirty="0">
                <a:solidFill>
                  <a:schemeClr val="tx2">
                    <a:lumMod val="75000"/>
                  </a:schemeClr>
                </a:solidFill>
              </a:rPr>
              <a:t>P</a:t>
            </a:r>
            <a:r>
              <a:rPr lang="en-GB" dirty="0">
                <a:solidFill>
                  <a:schemeClr val="tx2">
                    <a:lumMod val="75000"/>
                  </a:schemeClr>
                </a:solidFill>
              </a:rPr>
              <a:t>ROGRAMSKO INŽENJERSTVO</a:t>
            </a:r>
          </a:p>
          <a:p>
            <a:pPr algn="r"/>
            <a:r>
              <a:rPr lang="en-GB" noProof="0" dirty="0">
                <a:solidFill>
                  <a:schemeClr val="tx2">
                    <a:lumMod val="75000"/>
                  </a:schemeClr>
                </a:solidFill>
              </a:rPr>
              <a:t>ID 183400</a:t>
            </a:r>
            <a:endParaRPr lang="hr-HR" noProof="0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7843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Sadržaj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6CB0F54-7862-2508-EDB2-877BCE433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r-HR" noProof="0" dirty="0"/>
              <a:t>Članovi tima</a:t>
            </a:r>
          </a:p>
          <a:p>
            <a:r>
              <a:rPr lang="hr-HR" dirty="0"/>
              <a:t>Opis zadatka</a:t>
            </a:r>
            <a:endParaRPr lang="hr-HR" noProof="0" dirty="0"/>
          </a:p>
          <a:p>
            <a:r>
              <a:rPr lang="hr-HR" noProof="0" dirty="0"/>
              <a:t>Analiza i oblikovanje sustava	</a:t>
            </a:r>
          </a:p>
          <a:p>
            <a:pPr lvl="1"/>
            <a:r>
              <a:rPr lang="hr-HR" noProof="0" dirty="0"/>
              <a:t>Zahtjevi</a:t>
            </a:r>
          </a:p>
          <a:p>
            <a:pPr lvl="1"/>
            <a:r>
              <a:rPr lang="hr-HR" noProof="0" dirty="0"/>
              <a:t>Arhitektura</a:t>
            </a:r>
          </a:p>
          <a:p>
            <a:r>
              <a:rPr lang="hr-HR" dirty="0"/>
              <a:t>Korišteni alati i tehnologije</a:t>
            </a:r>
            <a:endParaRPr lang="hr-HR" noProof="0" dirty="0"/>
          </a:p>
          <a:p>
            <a:r>
              <a:rPr lang="hr-HR" noProof="0" dirty="0"/>
              <a:t>Organizacija rada </a:t>
            </a:r>
          </a:p>
          <a:p>
            <a:r>
              <a:rPr lang="hr-HR" noProof="0" dirty="0"/>
              <a:t>Iskustva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pPr/>
              <a:t>2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712565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CCC5E-8F0C-4678-41F6-563B723DD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Članovi grupe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85B14-6D23-2394-890E-2F2CE06844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/>
              <a:t>Voditelj tima: Svebor Vasić (</a:t>
            </a:r>
            <a:r>
              <a:rPr lang="sv-SE" u="sng" dirty="0">
                <a:hlinkClick r:id="rId3"/>
              </a:rPr>
              <a:t>svebor.vasic@fer.unizg.hr</a:t>
            </a:r>
            <a:r>
              <a:rPr lang="sv-SE" dirty="0"/>
              <a:t>) - fullstack</a:t>
            </a:r>
          </a:p>
          <a:p>
            <a:r>
              <a:rPr lang="sv-SE" dirty="0"/>
              <a:t>Gabriela Perković (</a:t>
            </a:r>
            <a:r>
              <a:rPr lang="sv-SE" u="sng" dirty="0">
                <a:hlinkClick r:id="rId4"/>
              </a:rPr>
              <a:t>gabriela.perkovic@fer.unizg.hr</a:t>
            </a:r>
            <a:r>
              <a:rPr lang="sv-SE" dirty="0"/>
              <a:t>) - fullstack</a:t>
            </a:r>
          </a:p>
          <a:p>
            <a:r>
              <a:rPr lang="sv-SE" dirty="0"/>
              <a:t>Sara Klarić (</a:t>
            </a:r>
            <a:r>
              <a:rPr lang="sv-SE" u="sng" dirty="0">
                <a:hlinkClick r:id="rId5"/>
              </a:rPr>
              <a:t>sara.klaric@fer.unizg.hr</a:t>
            </a:r>
            <a:r>
              <a:rPr lang="sv-SE" dirty="0"/>
              <a:t>) - fullstack</a:t>
            </a:r>
          </a:p>
          <a:p>
            <a:r>
              <a:rPr lang="sv-SE" dirty="0"/>
              <a:t>Marko Maslać (</a:t>
            </a:r>
            <a:r>
              <a:rPr lang="sv-SE" u="sng" dirty="0">
                <a:hlinkClick r:id="rId6"/>
              </a:rPr>
              <a:t>marko.maslac@fer.unizg.hr</a:t>
            </a:r>
            <a:r>
              <a:rPr lang="sv-SE" dirty="0"/>
              <a:t>) - dokumentacija</a:t>
            </a:r>
          </a:p>
          <a:p>
            <a:r>
              <a:rPr lang="sv-SE" dirty="0"/>
              <a:t>Lovro Milišić (</a:t>
            </a:r>
            <a:r>
              <a:rPr lang="sv-SE" u="sng" dirty="0">
                <a:hlinkClick r:id="rId7"/>
              </a:rPr>
              <a:t>lovro.milisic@fer.unizg.hr</a:t>
            </a:r>
            <a:r>
              <a:rPr lang="sv-SE" dirty="0"/>
              <a:t>) - fullstack</a:t>
            </a:r>
          </a:p>
          <a:p>
            <a:r>
              <a:rPr lang="sv-SE" dirty="0"/>
              <a:t>Jan Klasić (</a:t>
            </a:r>
            <a:r>
              <a:rPr lang="sv-SE" u="sng" dirty="0">
                <a:hlinkClick r:id="rId8"/>
              </a:rPr>
              <a:t>jan.kla</a:t>
            </a:r>
            <a:r>
              <a:rPr lang="hr-HR" u="sng" dirty="0">
                <a:hlinkClick r:id="rId8"/>
              </a:rPr>
              <a:t>s</a:t>
            </a:r>
            <a:r>
              <a:rPr lang="sv-SE" u="sng" dirty="0">
                <a:hlinkClick r:id="rId8"/>
              </a:rPr>
              <a:t>ic@fer.unizg.hr</a:t>
            </a:r>
            <a:r>
              <a:rPr lang="sv-SE" dirty="0"/>
              <a:t>) - fullstack</a:t>
            </a:r>
          </a:p>
          <a:p>
            <a:pPr marL="0" indent="0">
              <a:buNone/>
            </a:pPr>
            <a:endParaRPr lang="hr-HR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8E38AF-35BC-BD40-AC94-1AB4341B3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3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035151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A0B7E-6D2D-545E-3942-807E5763C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O projektu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DC0A7-2EBE-B97D-F71C-97BD62047F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hr-HR" altLang="sr-Latn-RS" dirty="0"/>
              <a:t>rješava digitalno prijavljivanje i praćenje kvarova u stambenim zgradama</a:t>
            </a:r>
          </a:p>
          <a:p>
            <a:pPr lvl="0"/>
            <a:r>
              <a:rPr lang="hr-HR" altLang="sr-Latn-RS" dirty="0"/>
              <a:t>Cilj: Jednostavna komunikacija između stanara, predstavnika stanara i majstora, praćenje statusa prijava te učinkovitije i transparentnije održavanje zgrade.</a:t>
            </a:r>
          </a:p>
          <a:p>
            <a:pPr lvl="0"/>
            <a:r>
              <a:rPr lang="hr-HR" altLang="sr-Latn-RS" dirty="0"/>
              <a:t>slična rješenja: </a:t>
            </a:r>
          </a:p>
          <a:p>
            <a:pPr lvl="3"/>
            <a:r>
              <a:rPr lang="hr-HR" altLang="sr-Latn-RS" sz="2400" dirty="0">
                <a:hlinkClick r:id="rId3"/>
              </a:rPr>
              <a:t>Fixflo</a:t>
            </a:r>
            <a:r>
              <a:rPr lang="hr-HR" altLang="sr-Latn-RS" sz="2400" dirty="0"/>
              <a:t> </a:t>
            </a:r>
          </a:p>
          <a:p>
            <a:pPr lvl="3"/>
            <a:r>
              <a:rPr lang="hr-HR" altLang="sr-Latn-RS" sz="2400" dirty="0">
                <a:hlinkClick r:id="rId4"/>
              </a:rPr>
              <a:t>PlanRadar</a:t>
            </a:r>
            <a:endParaRPr lang="hr-HR" altLang="sr-Latn-RS" sz="2400" dirty="0"/>
          </a:p>
          <a:p>
            <a:r>
              <a:rPr lang="hr-HR" altLang="sr-Latn-RS" dirty="0"/>
              <a:t>prednosti: fokus na krajnje korisnike u stambenim zgradama, jednostavniji proces prijave, besplatno korištenje osnovnih funkcija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E24A85-3B76-EBCB-772E-CD8CF3165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pPr/>
              <a:t>4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839409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242E0-7048-CC29-7179-3BB883D5E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98374" y="1054095"/>
            <a:ext cx="3441193" cy="828262"/>
          </a:xfrm>
        </p:spPr>
        <p:txBody>
          <a:bodyPr>
            <a:noAutofit/>
          </a:bodyPr>
          <a:lstStyle/>
          <a:p>
            <a:r>
              <a:rPr lang="hr-HR" sz="2800" dirty="0"/>
              <a:t>Funkcionalni zahtjevi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2B11204-AFAA-4AF5-2596-3099055CF9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106"/>
          <a:stretch>
            <a:fillRect/>
          </a:stretch>
        </p:blipFill>
        <p:spPr>
          <a:xfrm>
            <a:off x="2485120" y="36000"/>
            <a:ext cx="3180646" cy="6809559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8508B1-A23D-F879-D53D-81F05E4A6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5</a:t>
            </a:fld>
            <a:endParaRPr lang="hr-HR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3177409-D14A-0C81-A7E9-98F1ECDBAA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213"/>
          <a:stretch>
            <a:fillRect/>
          </a:stretch>
        </p:blipFill>
        <p:spPr>
          <a:xfrm>
            <a:off x="5507695" y="-329"/>
            <a:ext cx="3636305" cy="6858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890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C5E62-1D80-0378-BC48-F41017E5C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4313" y="52584"/>
            <a:ext cx="7355373" cy="570417"/>
          </a:xfrm>
        </p:spPr>
        <p:txBody>
          <a:bodyPr>
            <a:noAutofit/>
          </a:bodyPr>
          <a:lstStyle/>
          <a:p>
            <a:r>
              <a:rPr lang="en-GB" sz="2800" dirty="0"/>
              <a:t>N</a:t>
            </a:r>
            <a:r>
              <a:rPr lang="hr-HR" sz="2800" dirty="0" err="1"/>
              <a:t>efunkcionalni</a:t>
            </a:r>
            <a:r>
              <a:rPr lang="hr-HR" sz="2800" dirty="0"/>
              <a:t> i zahtjevi domene primjene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5ADD38E-59A1-3E88-B6E2-2EA433E6AA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6956" y="870703"/>
            <a:ext cx="5810089" cy="235129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B6D6EF-0A7D-D6AE-DC4A-35E18BEED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212350" y="6332385"/>
            <a:ext cx="475056" cy="288000"/>
          </a:xfrm>
        </p:spPr>
        <p:txBody>
          <a:bodyPr/>
          <a:lstStyle/>
          <a:p>
            <a:fld id="{FAA41844-C0CA-4144-9D6C-D993F0C0FAB4}" type="slidenum">
              <a:rPr lang="hr-HR" smtClean="0"/>
              <a:t>6</a:t>
            </a:fld>
            <a:endParaRPr lang="hr-HR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0715149-5874-673A-5296-52A5948C79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5475" y="2974006"/>
            <a:ext cx="5801570" cy="17123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70D0305-5CC7-4E60-1FFC-7ADD78C18BF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8751" y="4501947"/>
            <a:ext cx="5793054" cy="128639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8CC8454-8E0D-B9CF-F22C-3F7FF12265B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8253" y="5682268"/>
            <a:ext cx="5767494" cy="100526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B292587-FA1D-142A-084E-74C60843AF2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6955" y="660291"/>
            <a:ext cx="5014395" cy="195851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F934010-5B09-7F8F-2FAE-0D5CC499071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695" y="2532188"/>
            <a:ext cx="4016088" cy="26672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7DCEBF4-72E0-BFB1-B403-3E2912A7352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2678" y="2740677"/>
            <a:ext cx="5174428" cy="139458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8038BA9-E896-5101-FEE6-7B71A41789B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1402" y="4155332"/>
            <a:ext cx="4480948" cy="50296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2E142C6-9B87-8A24-307E-329795FEEB0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2195" y="4648327"/>
            <a:ext cx="5204911" cy="144030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078C985-1194-6051-2B82-80FED7454A8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2678" y="6043350"/>
            <a:ext cx="5022015" cy="762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515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B194B-73FA-DAD6-728F-E14212BE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46" y="359449"/>
            <a:ext cx="7765322" cy="970450"/>
          </a:xfrm>
        </p:spPr>
        <p:txBody>
          <a:bodyPr>
            <a:normAutofit/>
          </a:bodyPr>
          <a:lstStyle/>
          <a:p>
            <a:r>
              <a:rPr lang="hr-HR" noProof="0" dirty="0"/>
              <a:t>UML dijagram obrazaca uporabe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90CEC8-0F4C-E99E-FC93-F08F526E7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7</a:t>
            </a:fld>
            <a:endParaRPr lang="hr-HR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427BA9-868D-3348-2941-FE0AFE4EDA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r-HR"/>
          </a:p>
        </p:txBody>
      </p:sp>
      <p:pic>
        <p:nvPicPr>
          <p:cNvPr id="1026" name="Picture 2" descr="image">
            <a:extLst>
              <a:ext uri="{FF2B5EF4-FFF2-40B4-BE49-F238E27FC236}">
                <a16:creationId xmlns:a16="http://schemas.microsoft.com/office/drawing/2014/main" id="{380CFB7C-E83B-2027-8EBC-46088A8377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45" t="1346" r="8613" b="3301"/>
          <a:stretch>
            <a:fillRect/>
          </a:stretch>
        </p:blipFill>
        <p:spPr bwMode="auto">
          <a:xfrm>
            <a:off x="935538" y="1329899"/>
            <a:ext cx="7199060" cy="5207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1244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830" y="124374"/>
            <a:ext cx="7765322" cy="970450"/>
          </a:xfrm>
        </p:spPr>
        <p:txBody>
          <a:bodyPr/>
          <a:lstStyle/>
          <a:p>
            <a:r>
              <a:rPr lang="hr-HR" noProof="0" dirty="0"/>
              <a:t>Arhitektura sustava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3140" y="754562"/>
            <a:ext cx="3010566" cy="5400000"/>
          </a:xfrm>
        </p:spPr>
        <p:txBody>
          <a:bodyPr/>
          <a:lstStyle/>
          <a:p>
            <a:endParaRPr lang="hr-HR" noProof="0" dirty="0"/>
          </a:p>
          <a:p>
            <a:r>
              <a:rPr lang="hr-HR" dirty="0"/>
              <a:t>MVC arhitektura</a:t>
            </a:r>
          </a:p>
          <a:p>
            <a:r>
              <a:rPr lang="hr-HR" dirty="0"/>
              <a:t>DIJAGRAM VISOKE RAZINE: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8</a:t>
            </a:fld>
            <a:endParaRPr lang="hr-H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63D7D6-6E92-AA14-2AA7-425AA4BB0A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5399" y="1189438"/>
            <a:ext cx="5555461" cy="531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354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153B8-46EC-E34E-23E3-7D802BF66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</a:t>
            </a:r>
            <a:r>
              <a:rPr lang="hr-HR" dirty="0" err="1"/>
              <a:t>ijagram</a:t>
            </a:r>
            <a:r>
              <a:rPr lang="hr-HR" dirty="0"/>
              <a:t> razmještaja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92D2D36-70B5-F219-A4B1-30073CD0F2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6439" y="1731963"/>
            <a:ext cx="5763185" cy="405923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5094D2-083E-453F-79E0-C02F26113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9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111883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43278-3D25-FEF7-4D6D-B4CA3FBE5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Ispitivanje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03D6B-82AC-E000-ED08-E246EC190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noProof="0" dirty="0"/>
              <a:t>Organizacija ispitivanja: ispitivanje na razini komponenti i na razini sustava</a:t>
            </a:r>
          </a:p>
          <a:p>
            <a:r>
              <a:rPr lang="hr-HR" noProof="0" dirty="0"/>
              <a:t>Testirano je ukupno: 7 funkcionalnosti na razini komponenti (11 ispitnih slučajeva) i 4 glavne funkcionalnosti na razini sustava (6 E2E testova)</a:t>
            </a:r>
            <a:endParaRPr lang="en-GB" noProof="0" dirty="0"/>
          </a:p>
          <a:p>
            <a:r>
              <a:rPr lang="hr-HR" dirty="0"/>
              <a:t>Obuhvaćeni</a:t>
            </a:r>
            <a:r>
              <a:rPr lang="en-GB" dirty="0"/>
              <a:t> </a:t>
            </a:r>
            <a:r>
              <a:rPr lang="en-GB" dirty="0" err="1"/>
              <a:t>su</a:t>
            </a:r>
            <a:r>
              <a:rPr lang="en-GB" dirty="0"/>
              <a:t> </a:t>
            </a:r>
            <a:r>
              <a:rPr lang="hr-HR" dirty="0"/>
              <a:t>redovni slučajevi, rubni uvjeti i greške za kreiranje i upravljanje </a:t>
            </a:r>
            <a:r>
              <a:rPr lang="hr-HR" dirty="0" err="1"/>
              <a:t>ticketima</a:t>
            </a:r>
            <a:r>
              <a:rPr lang="hr-HR" dirty="0"/>
              <a:t>, dodjelu majstora, provjeru članstva, autorizaciju korisnika, autentifikaciju, registraciju te pristup nepostojećim resursima</a:t>
            </a:r>
            <a:endParaRPr lang="hr-HR" noProof="0" dirty="0"/>
          </a:p>
          <a:p>
            <a:r>
              <a:rPr lang="hr-HR" dirty="0"/>
              <a:t>100% prolaznost</a:t>
            </a:r>
            <a:endParaRPr lang="hr-HR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02A5A4-7F29-94F6-4C85-99B20512A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10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321737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Korišteni alati i tehnologije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noProof="0" dirty="0"/>
              <a:t>Popis programskih jezika i radnih okvira</a:t>
            </a:r>
          </a:p>
          <a:p>
            <a:pPr lvl="1"/>
            <a:r>
              <a:rPr lang="hr-HR" dirty="0"/>
              <a:t>1. Programski jezici – JavaScript, </a:t>
            </a:r>
            <a:r>
              <a:rPr lang="hr-HR" dirty="0" err="1"/>
              <a:t>TypeScript</a:t>
            </a:r>
            <a:r>
              <a:rPr lang="hr-HR" dirty="0"/>
              <a:t> 5.9</a:t>
            </a:r>
          </a:p>
          <a:p>
            <a:pPr lvl="1"/>
            <a:r>
              <a:rPr lang="nn-NO" noProof="0" dirty="0"/>
              <a:t>2. Radni okviri i biblioteke</a:t>
            </a:r>
            <a:r>
              <a:rPr lang="hr-HR" noProof="0" dirty="0"/>
              <a:t> - Next.js 15, </a:t>
            </a:r>
            <a:r>
              <a:rPr lang="hr-HR" noProof="0" dirty="0" err="1"/>
              <a:t>React</a:t>
            </a:r>
            <a:r>
              <a:rPr lang="hr-HR" noProof="0" dirty="0"/>
              <a:t> 19, </a:t>
            </a:r>
            <a:r>
              <a:rPr lang="hr-HR" noProof="0" dirty="0" err="1"/>
              <a:t>Tailwind</a:t>
            </a:r>
            <a:r>
              <a:rPr lang="hr-HR" noProof="0" dirty="0"/>
              <a:t> CSS 4, </a:t>
            </a:r>
            <a:r>
              <a:rPr lang="hr-HR" noProof="0" dirty="0" err="1"/>
              <a:t>shadcn</a:t>
            </a:r>
            <a:r>
              <a:rPr lang="hr-HR" noProof="0" dirty="0"/>
              <a:t>/</a:t>
            </a:r>
            <a:r>
              <a:rPr lang="hr-HR" noProof="0" dirty="0" err="1"/>
              <a:t>ui</a:t>
            </a:r>
            <a:r>
              <a:rPr lang="hr-HR" noProof="0" dirty="0"/>
              <a:t>, </a:t>
            </a:r>
            <a:r>
              <a:rPr lang="hr-HR" noProof="0" dirty="0" err="1"/>
              <a:t>Lucide</a:t>
            </a:r>
            <a:r>
              <a:rPr lang="hr-HR" noProof="0" dirty="0"/>
              <a:t> </a:t>
            </a:r>
            <a:r>
              <a:rPr lang="hr-HR" noProof="0" dirty="0" err="1"/>
              <a:t>React</a:t>
            </a:r>
            <a:endParaRPr lang="hr-HR" noProof="0" dirty="0"/>
          </a:p>
          <a:p>
            <a:pPr lvl="1"/>
            <a:r>
              <a:rPr lang="hr-HR" dirty="0"/>
              <a:t>3. Baza podataka – </a:t>
            </a:r>
            <a:r>
              <a:rPr lang="hr-HR" dirty="0" err="1"/>
              <a:t>Supabase</a:t>
            </a:r>
            <a:endParaRPr lang="hr-HR" dirty="0"/>
          </a:p>
          <a:p>
            <a:pPr lvl="1"/>
            <a:r>
              <a:rPr lang="hr-HR" noProof="0" dirty="0"/>
              <a:t>4. Razvojni </a:t>
            </a:r>
            <a:r>
              <a:rPr lang="hr-HR" dirty="0"/>
              <a:t>alati – </a:t>
            </a:r>
            <a:r>
              <a:rPr lang="hr-HR" dirty="0" err="1"/>
              <a:t>Visual</a:t>
            </a:r>
            <a:r>
              <a:rPr lang="hr-HR" dirty="0"/>
              <a:t> Studio </a:t>
            </a:r>
            <a:r>
              <a:rPr lang="hr-HR" dirty="0" err="1"/>
              <a:t>Code</a:t>
            </a:r>
            <a:r>
              <a:rPr lang="hr-HR" dirty="0"/>
              <a:t>, </a:t>
            </a:r>
            <a:r>
              <a:rPr lang="hr-HR" dirty="0" err="1"/>
              <a:t>Git</a:t>
            </a:r>
            <a:r>
              <a:rPr lang="hr-HR" dirty="0"/>
              <a:t> 2.51, </a:t>
            </a:r>
            <a:r>
              <a:rPr lang="hr-HR" dirty="0" err="1"/>
              <a:t>Supabase</a:t>
            </a:r>
            <a:r>
              <a:rPr lang="hr-HR" dirty="0"/>
              <a:t> CLI, </a:t>
            </a:r>
            <a:r>
              <a:rPr lang="hr-HR" dirty="0" err="1"/>
              <a:t>Postman</a:t>
            </a:r>
            <a:endParaRPr lang="hr-HR" dirty="0"/>
          </a:p>
          <a:p>
            <a:pPr lvl="1"/>
            <a:r>
              <a:rPr lang="hr-HR" noProof="0" dirty="0"/>
              <a:t>5. Alat</a:t>
            </a:r>
            <a:r>
              <a:rPr lang="hr-HR" dirty="0"/>
              <a:t>i za ispitivanje - Jest 30, </a:t>
            </a:r>
            <a:r>
              <a:rPr lang="hr-HR" dirty="0" err="1"/>
              <a:t>Playwright</a:t>
            </a:r>
            <a:r>
              <a:rPr lang="hr-HR" dirty="0"/>
              <a:t> 1.40</a:t>
            </a:r>
          </a:p>
          <a:p>
            <a:pPr lvl="1"/>
            <a:r>
              <a:rPr lang="hr-HR" noProof="0" dirty="0"/>
              <a:t>6. Alati za razmještaj i integracije – Stripe, </a:t>
            </a:r>
            <a:r>
              <a:rPr lang="hr-HR" noProof="0" dirty="0" err="1"/>
              <a:t>SendGrid</a:t>
            </a:r>
            <a:r>
              <a:rPr lang="hr-HR" noProof="0" dirty="0"/>
              <a:t>, APDF</a:t>
            </a:r>
          </a:p>
          <a:p>
            <a:pPr lvl="1"/>
            <a:r>
              <a:rPr lang="hr-HR" dirty="0"/>
              <a:t>7. Cloud platforma - </a:t>
            </a:r>
            <a:r>
              <a:rPr lang="hr-HR" dirty="0" err="1"/>
              <a:t>Vercel</a:t>
            </a:r>
            <a:r>
              <a:rPr lang="hr-HR" noProof="0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11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389772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154854"/>
            <a:ext cx="7765322" cy="970450"/>
          </a:xfrm>
        </p:spPr>
        <p:txBody>
          <a:bodyPr/>
          <a:lstStyle/>
          <a:p>
            <a:r>
              <a:rPr lang="hr-HR" noProof="0" dirty="0"/>
              <a:t>Organizacija rada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1125304"/>
            <a:ext cx="7765322" cy="4058751"/>
          </a:xfrm>
        </p:spPr>
        <p:txBody>
          <a:bodyPr>
            <a:normAutofit/>
          </a:bodyPr>
          <a:lstStyle/>
          <a:p>
            <a:r>
              <a:rPr lang="hr-HR" noProof="0" dirty="0"/>
              <a:t>Neprogramski (organizacijski) zadaci</a:t>
            </a:r>
          </a:p>
          <a:p>
            <a:pPr lvl="1"/>
            <a:r>
              <a:rPr lang="hr-HR" noProof="0" dirty="0"/>
              <a:t>Organizacija komunikacije </a:t>
            </a:r>
            <a:r>
              <a:rPr lang="hr-HR" dirty="0"/>
              <a:t>– WhatsApp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GitHub issues</a:t>
            </a:r>
            <a:endParaRPr lang="hr-HR" noProof="0" dirty="0"/>
          </a:p>
          <a:p>
            <a:pPr lvl="1"/>
            <a:r>
              <a:rPr lang="hr-HR" noProof="0" dirty="0"/>
              <a:t>Primijenjeni model životnog ciklusa - agilni</a:t>
            </a:r>
          </a:p>
          <a:p>
            <a:r>
              <a:rPr lang="hr-HR" noProof="0" dirty="0"/>
              <a:t>Vremenski okvir razvoja</a:t>
            </a:r>
          </a:p>
          <a:p>
            <a:pPr lvl="1"/>
            <a:r>
              <a:rPr lang="hr-HR" dirty="0"/>
              <a:t>Specifikacija – početkom semestra</a:t>
            </a:r>
          </a:p>
          <a:p>
            <a:pPr lvl="1"/>
            <a:r>
              <a:rPr lang="hr-HR" noProof="0" dirty="0"/>
              <a:t>Implementacija – većina semestra</a:t>
            </a:r>
          </a:p>
          <a:p>
            <a:pPr lvl="1"/>
            <a:r>
              <a:rPr lang="hr-HR" dirty="0"/>
              <a:t>Testiranje – pred kraj </a:t>
            </a:r>
            <a:r>
              <a:rPr lang="hr-HR" dirty="0" err="1"/>
              <a:t>sem</a:t>
            </a:r>
            <a:r>
              <a:rPr lang="en-GB" dirty="0"/>
              <a:t>e</a:t>
            </a:r>
            <a:r>
              <a:rPr lang="hr-HR" dirty="0" err="1"/>
              <a:t>stra</a:t>
            </a:r>
            <a:endParaRPr lang="hr-HR" dirty="0"/>
          </a:p>
          <a:p>
            <a:pPr lvl="1"/>
            <a:r>
              <a:rPr lang="hr-HR" noProof="0" dirty="0"/>
              <a:t>Dokumentacija – tijekom cijele izrade projekta</a:t>
            </a:r>
          </a:p>
          <a:p>
            <a:pPr marL="457200" lvl="1" indent="0">
              <a:buNone/>
            </a:pPr>
            <a:endParaRPr lang="hr-H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12</a:t>
            </a:fld>
            <a:endParaRPr lang="hr-HR" dirty="0"/>
          </a:p>
        </p:txBody>
      </p:sp>
      <p:pic>
        <p:nvPicPr>
          <p:cNvPr id="3074" name="Picture 2" descr="image">
            <a:extLst>
              <a:ext uri="{FF2B5EF4-FFF2-40B4-BE49-F238E27FC236}">
                <a16:creationId xmlns:a16="http://schemas.microsoft.com/office/drawing/2014/main" id="{94980282-578E-225E-8AFA-5E390DB968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9923" y="4559441"/>
            <a:ext cx="4976167" cy="1688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52239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4B577-3271-474F-3D71-48D634BAE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965" y="163514"/>
            <a:ext cx="2447211" cy="5301701"/>
          </a:xfrm>
        </p:spPr>
        <p:txBody>
          <a:bodyPr>
            <a:noAutofit/>
          </a:bodyPr>
          <a:lstStyle/>
          <a:p>
            <a:r>
              <a:rPr lang="hr-HR" sz="2800" dirty="0"/>
              <a:t>TABLICA RAŠČLAMBE ZADATAKA ČLANOVA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D0184D-F7FF-F42F-30A8-E0A5310F3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13</a:t>
            </a:fld>
            <a:endParaRPr lang="hr-HR"/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64C4035E-06BA-2334-4627-6D9BD52501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2467" y="163514"/>
            <a:ext cx="4620962" cy="6166166"/>
          </a:xfrm>
        </p:spPr>
      </p:pic>
    </p:spTree>
    <p:extLst>
      <p:ext uri="{BB962C8B-B14F-4D97-AF65-F5344CB8AC3E}">
        <p14:creationId xmlns:p14="http://schemas.microsoft.com/office/powerpoint/2010/main" val="41498883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9CBA8-11D5-D65F-3F83-F59F385AC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Demonstracija aplikacije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ADC07-223F-0954-0AAD-901A9AD83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>
                <a:hlinkClick r:id="rId2"/>
              </a:rPr>
              <a:t>https://homefix-seven.vercel.app/</a:t>
            </a:r>
            <a:r>
              <a:rPr lang="hr-HR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6D2D5-F8F8-3548-34C0-61BDD7AAE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14</a:t>
            </a:fld>
            <a:endParaRPr lang="hr-HR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31FA9FF-68EC-0346-0BA2-54610E6703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74" r="5377" b="-474"/>
          <a:stretch>
            <a:fillRect/>
          </a:stretch>
        </p:blipFill>
        <p:spPr>
          <a:xfrm>
            <a:off x="241814" y="2406363"/>
            <a:ext cx="8652386" cy="4149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6029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Zaključak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Tehnički izazovi</a:t>
            </a:r>
            <a:endParaRPr lang="hr-HR" noProof="0" dirty="0"/>
          </a:p>
          <a:p>
            <a:pPr lvl="1"/>
            <a:r>
              <a:rPr lang="hr-HR" noProof="0" dirty="0"/>
              <a:t>rad s bazom podataka</a:t>
            </a:r>
          </a:p>
          <a:p>
            <a:pPr lvl="1"/>
            <a:r>
              <a:rPr lang="hr-HR" noProof="0" dirty="0">
                <a:sym typeface="Wingdings" panose="05000000000000000000" pitchFamily="2" charset="2"/>
              </a:rPr>
              <a:t>povezivanje s vanjskim servisima</a:t>
            </a:r>
          </a:p>
          <a:p>
            <a:r>
              <a:rPr lang="hr-HR" dirty="0"/>
              <a:t>Stečena praktična znanja iz web razvoja, baza podataka i timskog rada</a:t>
            </a:r>
          </a:p>
          <a:p>
            <a:r>
              <a:rPr lang="hr-HR" noProof="0" dirty="0">
                <a:sym typeface="Wingdings" panose="05000000000000000000" pitchFamily="2" charset="2"/>
              </a:rPr>
              <a:t>moguća nadogradnja projekta dodatnim funkcionalnostima i mobilnom aplikacijom</a:t>
            </a:r>
          </a:p>
          <a:p>
            <a:r>
              <a:rPr lang="hr-HR" dirty="0">
                <a:sym typeface="Wingdings" panose="05000000000000000000" pitchFamily="2" charset="2"/>
              </a:rPr>
              <a:t>rezultat: učinkovito rješenje za prijavu i upravljanje kvarovima</a:t>
            </a:r>
            <a:endParaRPr lang="hr-HR" noProof="0" dirty="0">
              <a:sym typeface="Wingdings" panose="05000000000000000000" pitchFamily="2" charset="2"/>
            </a:endParaRPr>
          </a:p>
          <a:p>
            <a:endParaRPr lang="hr-H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15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8259320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8.jpeg"/></Relationships>
</file>

<file path=ppt/theme/theme1.xml><?xml version="1.0" encoding="utf-8"?>
<a:theme xmlns:a="http://schemas.openxmlformats.org/drawingml/2006/main" name="PROGI-templat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Century Gothic"/>
        <a:ea typeface=""/>
        <a:cs typeface=""/>
      </a:majorFont>
      <a:minorFont>
        <a:latin typeface="Franklin Gothic Book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OGI-template.potm" id="{58E78474-FDB4-4359-98C4-259EEF8E4D43}" vid="{A98D19B1-8675-4930-BF13-63F2BBFA5E37}"/>
    </a:ext>
  </a:extLst>
</a:theme>
</file>

<file path=ppt/theme/theme2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01_Uvod_19-1</Template>
  <TotalTime>1571</TotalTime>
  <Words>518</Words>
  <Application>Microsoft Office PowerPoint</Application>
  <PresentationFormat>On-screen Show (4:3)</PresentationFormat>
  <Paragraphs>90</Paragraphs>
  <Slides>15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6" baseType="lpstr">
      <vt:lpstr>Arial</vt:lpstr>
      <vt:lpstr>Calibri</vt:lpstr>
      <vt:lpstr>Calisto MT</vt:lpstr>
      <vt:lpstr>Century Gothic</vt:lpstr>
      <vt:lpstr>Courier New</vt:lpstr>
      <vt:lpstr>Franklin Gothic Book</vt:lpstr>
      <vt:lpstr>Franklin Gothic Demi</vt:lpstr>
      <vt:lpstr>Wingdings</vt:lpstr>
      <vt:lpstr>Wingdings 2</vt:lpstr>
      <vt:lpstr>PROGI-template</vt:lpstr>
      <vt:lpstr>Slate</vt:lpstr>
      <vt:lpstr>HomeFix</vt:lpstr>
      <vt:lpstr>Sadržaj</vt:lpstr>
      <vt:lpstr>Članovi grupe</vt:lpstr>
      <vt:lpstr>O projektu</vt:lpstr>
      <vt:lpstr>Funkcionalni zahtjevi</vt:lpstr>
      <vt:lpstr>Nefunkcionalni i zahtjevi domene primjene</vt:lpstr>
      <vt:lpstr>UML dijagram obrazaca uporabe</vt:lpstr>
      <vt:lpstr>Arhitektura sustava</vt:lpstr>
      <vt:lpstr>Dijagram razmještaja</vt:lpstr>
      <vt:lpstr>Ispitivanje</vt:lpstr>
      <vt:lpstr>Korišteni alati i tehnologije</vt:lpstr>
      <vt:lpstr>Organizacija rada</vt:lpstr>
      <vt:lpstr>TABLICA RAŠČLAMBE ZADATAKA ČLANOVA</vt:lpstr>
      <vt:lpstr>Demonstracija aplikacije</vt:lpstr>
      <vt:lpstr>Zaključak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&lt;Naziv projekta&gt;</dc:title>
  <dc:creator>nfrid</dc:creator>
  <cp:lastModifiedBy>Gabriela Perković</cp:lastModifiedBy>
  <cp:revision>40</cp:revision>
  <dcterms:created xsi:type="dcterms:W3CDTF">2016-01-18T13:10:52Z</dcterms:created>
  <dcterms:modified xsi:type="dcterms:W3CDTF">2026-01-22T11:02:12Z</dcterms:modified>
</cp:coreProperties>
</file>